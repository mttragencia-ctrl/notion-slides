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37744" cy="237744"/>
          </a:xfrm>
          <a:prstGeom prst="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 spc="150">
                <a:solidFill>
                  <a:srgbClr val="000000"/>
                </a:solidFill>
                <a:latin typeface="Archivo Black"/>
              </a:rPr>
              <a:t>MATTER</a:t>
            </a:r>
          </a:p>
        </p:txBody>
      </p:sp>
      <p:sp>
        <p:nvSpPr>
          <p:cNvPr id="5" name="Oval 4"/>
          <p:cNvSpPr/>
          <p:nvPr/>
        </p:nvSpPr>
        <p:spPr>
          <a:xfrm>
            <a:off x="8138160" y="457200"/>
            <a:ext cx="457200" cy="457200"/>
          </a:xfrm>
          <a:prstGeom prst="ellipse">
            <a:avLst/>
          </a:prstGeom>
          <a:solidFill>
            <a:srgbClr val="CBA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18120" y="566928"/>
            <a:ext cx="237744" cy="237744"/>
          </a:xfrm>
          <a:prstGeom prst="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50">
                <a:solidFill>
                  <a:srgbClr val="8A8277"/>
                </a:solidFill>
                <a:latin typeface="Inter"/>
              </a:rPr>
              <a:t>PLANIFICACIÓN DE CONTENIDOS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8046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 spc="50">
                <a:solidFill>
                  <a:srgbClr val="000000"/>
                </a:solidFill>
                <a:latin typeface="Archivo Black"/>
              </a:rPr>
              <a:t>LA PORTEÑA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46120"/>
            <a:ext cx="2011680" cy="109728"/>
          </a:xfrm>
          <a:prstGeom prst="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Inter"/>
              </a:rPr>
              <a:t>Julio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8277"/>
                </a:solidFill>
                <a:latin typeface="Inter"/>
              </a:rPr>
              <a:t>4 piezas de contenido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 spc="30">
                <a:solidFill>
                  <a:srgbClr val="000000"/>
                </a:solidFill>
                <a:latin typeface="Archivo Black"/>
              </a:rPr>
              <a:t>HISTORIA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58932" y="402336"/>
            <a:ext cx="1636427" cy="274320"/>
          </a:xfrm>
          <a:prstGeom prst="round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Inter"/>
              </a:rPr>
              <a:t>⏰ Instagram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68096"/>
            <a:ext cx="3108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 spc="120">
                <a:solidFill>
                  <a:srgbClr val="8A8277"/>
                </a:solidFill>
                <a:latin typeface="Inter"/>
              </a:rPr>
              <a:t>PUBLICACIÓN   </a:t>
            </a:r>
            <a:r>
              <a:rPr sz="1500" b="1">
                <a:solidFill>
                  <a:srgbClr val="000000"/>
                </a:solidFill>
                <a:latin typeface="Inter"/>
              </a:rPr>
              <a:t>01 Jul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88720"/>
            <a:ext cx="8046720" cy="0"/>
          </a:xfrm>
          <a:prstGeom prst="bentConnector3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417320"/>
            <a:ext cx="8046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000000"/>
                </a:solidFill>
                <a:latin typeface="Inter"/>
              </a:rPr>
              <a:t>QUÉ VA EN CADA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46504"/>
            <a:ext cx="8046720" cy="3191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H1: Comienza la semana de la dulzura y tenemos el detalle perfecto para regalar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H2: Mostrar productos mini con flechas: facturas / alfajores / cookies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H3: Caja de bombones + flores para tu pareja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H4: No te quedes sin hacer un regalo (link WhatsApp)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 spc="30">
                <a:solidFill>
                  <a:srgbClr val="000000"/>
                </a:solidFill>
                <a:latin typeface="Archivo Black"/>
              </a:rPr>
              <a:t>REEL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01650" y="402336"/>
            <a:ext cx="1093709" cy="274320"/>
          </a:xfrm>
          <a:prstGeom prst="round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Inter"/>
              </a:rPr>
              <a:t>📽 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68096"/>
            <a:ext cx="3108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 spc="120">
                <a:solidFill>
                  <a:srgbClr val="8A8277"/>
                </a:solidFill>
                <a:latin typeface="Inter"/>
              </a:rPr>
              <a:t>PUBLICACIÓN   </a:t>
            </a:r>
            <a:r>
              <a:rPr sz="1500" b="1">
                <a:solidFill>
                  <a:srgbClr val="000000"/>
                </a:solidFill>
                <a:latin typeface="Inter"/>
              </a:rPr>
              <a:t>02 Jul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88720"/>
            <a:ext cx="8046720" cy="0"/>
          </a:xfrm>
          <a:prstGeom prst="bentConnector3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36592" y="1417320"/>
            <a:ext cx="0" cy="3520440"/>
          </a:xfrm>
          <a:prstGeom prst="bentConnector3">
            <a:avLst/>
          </a:prstGeom>
          <a:ln w="9525">
            <a:solidFill>
              <a:srgbClr val="D8CE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417320"/>
            <a:ext cx="4160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000000"/>
                </a:solidFill>
                <a:latin typeface="Inter"/>
              </a:rPr>
              <a:t>QUÉ VA EN CADA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28216"/>
            <a:ext cx="4160520" cy="3209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Hook: Mira estas opciones para regalar por la semana de la dulzura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Desarrollo: opciones mini + caja de bombones con flores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000000"/>
                </a:solidFill>
                <a:latin typeface="Inter"/>
              </a:rPr>
              <a:t>Cierre: pasa a buscar tu mejor regalo en La Portena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417320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000000"/>
                </a:solidFill>
                <a:latin typeface="Inter"/>
              </a:rPr>
              <a:t>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28216"/>
            <a:ext cx="3566160" cy="3209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Inter"/>
              </a:rPr>
              <a:t>La semana de la dulzura esta con nosotros! Cuales son tu opcion favorita? Te leemos en los comentarios.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A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 spc="30">
                <a:solidFill>
                  <a:srgbClr val="000000"/>
                </a:solidFill>
                <a:latin typeface="Archivo Black"/>
              </a:rPr>
              <a:t>HISTORIA 2 LIBRE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58932" y="402336"/>
            <a:ext cx="1636427" cy="274320"/>
          </a:xfrm>
          <a:prstGeom prst="round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Inter"/>
              </a:rPr>
              <a:t>⏰ Instagram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68096"/>
            <a:ext cx="3108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 spc="120">
                <a:solidFill>
                  <a:srgbClr val="8A8277"/>
                </a:solidFill>
                <a:latin typeface="Inter"/>
              </a:rPr>
              <a:t>PUBLICACIÓN   </a:t>
            </a:r>
            <a:r>
              <a:rPr sz="1500" b="1">
                <a:solidFill>
                  <a:srgbClr val="000000"/>
                </a:solidFill>
                <a:latin typeface="Inter"/>
              </a:rPr>
              <a:t>03 Jul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88720"/>
            <a:ext cx="8046720" cy="0"/>
          </a:xfrm>
          <a:prstGeom prst="bentConnector3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46888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 spc="50">
                <a:solidFill>
                  <a:srgbClr val="B4ACA1"/>
                </a:solidFill>
                <a:latin typeface="Archivo Black"/>
              </a:rPr>
              <a:t>CONTENIDO PENDIENTE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B4ACA1"/>
                </a:solidFill>
                <a:latin typeface="Inter"/>
              </a:rPr>
              <a:t>Guión pendiente de elaboración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 spc="30">
                <a:solidFill>
                  <a:srgbClr val="000000"/>
                </a:solidFill>
                <a:latin typeface="Archivo Black"/>
              </a:rPr>
              <a:t>POSTEO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62451" y="402336"/>
            <a:ext cx="1432908" cy="274320"/>
          </a:xfrm>
          <a:prstGeom prst="roundRect">
            <a:avLst/>
          </a:prstGeom>
          <a:solidFill>
            <a:srgbClr val="D2F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Inter"/>
              </a:rPr>
              <a:t>🖼 Instagram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768096"/>
            <a:ext cx="310896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b="1" spc="120">
                <a:solidFill>
                  <a:srgbClr val="8A8277"/>
                </a:solidFill>
                <a:latin typeface="Inter"/>
              </a:rPr>
              <a:t>PUBLICACIÓN   </a:t>
            </a:r>
            <a:r>
              <a:rPr sz="1500" b="1">
                <a:solidFill>
                  <a:srgbClr val="000000"/>
                </a:solidFill>
                <a:latin typeface="Inter"/>
              </a:rPr>
              <a:t>05 Jul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88720"/>
            <a:ext cx="8046720" cy="0"/>
          </a:xfrm>
          <a:prstGeom prst="bentConnector3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36592" y="1417320"/>
            <a:ext cx="0" cy="3520440"/>
          </a:xfrm>
          <a:prstGeom prst="bentConnector3">
            <a:avLst/>
          </a:prstGeom>
          <a:ln w="9525">
            <a:solidFill>
              <a:srgbClr val="D8CE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1417320"/>
            <a:ext cx="4160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000000"/>
                </a:solidFill>
                <a:latin typeface="Inter"/>
              </a:rPr>
              <a:t>QUÉ VA EN CADA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28216"/>
            <a:ext cx="4160520" cy="3209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Inter"/>
              </a:rPr>
              <a:t>Img 1: Unas fotos no te pueden dar tanto hambre, las fotos: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Inter"/>
              </a:rPr>
              <a:t>Img 2: Foto de croissant de pistacho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Inter"/>
              </a:rPr>
              <a:t>Img 3: Foto de torta matilda</a:t>
            </a:r>
          </a:p>
          <a:p>
            <a:pPr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050">
                <a:solidFill>
                  <a:srgbClr val="000000"/>
                </a:solidFill>
                <a:latin typeface="Inter"/>
              </a:rPr>
              <a:t>Img 4: Compartile este posteo a esa amiga fan de lo dulce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417320"/>
            <a:ext cx="3566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000000"/>
                </a:solidFill>
                <a:latin typeface="Inter"/>
              </a:rPr>
              <a:t>COPY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728216"/>
            <a:ext cx="3566160" cy="32095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100">
                <a:solidFill>
                  <a:srgbClr val="000000"/>
                </a:solidFill>
                <a:latin typeface="Inter"/>
              </a:rPr>
              <a:t>Levante la mano quien ve algo dulce y le agarra hambre! Compartile a esa amiga. #panaderia #moreno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